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Chapter 2 introduces keyword (lexical) search: matching the literal words of a query against documents, fast. It's still everywhere and a strong baseline. We'll build the inverted index, TF-IDF, and BM25.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Framing: retrieval must be fast and relevant. Speed comes from the inverted index; relevance from BM25.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Shared-word counting is the seed of keyword search, but stopwords pollute it — motivating IDF.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Normalization must be identical for query and docs. Stop-words and stemming are optional but common.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term-&gt;postings inverts the usual doc-&gt;words direction, enabling fast lookups.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TF rewards local frequency; IDF rewards global rarity; the product ranks for the right reason.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numbers are asserted in the Chapter 2 notebook. 'is' contributes 0 because ln(5/5)=0.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BM25 fixes TF-IDF's two weaknesses: saturation (k1) and length normalization (b).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 of these are avoidable with careful preprocessing; synonyms are the fundamental limit.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terms recur across the course; the glossary defines each simply.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 and hand-off to Chapter 3, where meaning-vectors solve the synonym problem.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0058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CHAPTER 2  ·  SEARCH SEMANTICALLY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1463040"/>
            <a:ext cx="73152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Keyword /</a:t>
            </a:r>
            <a:endParaRPr lang="en-US" sz="54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Lexical Search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658368" y="3566160"/>
            <a:ext cx="6766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BFDB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 the words — fast. The workhorse behind decades of search.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58368" y="6126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Dr. Mahdi Habibi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WE ARE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 a query to the right documents — in milliseconds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2148840"/>
            <a:ext cx="658368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03200" indent="-2032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user gives a query; we must return the documents that match.</a:t>
            </a:r>
            <a:endParaRPr lang="en-US" sz="1600" dirty="0"/>
          </a:p>
          <a:p>
            <a:pPr algn="l" marL="203200" indent="-2032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has to be fast — potentially over millions of documents.</a:t>
            </a:r>
            <a:endParaRPr lang="en-US" sz="1600" dirty="0"/>
          </a:p>
          <a:p>
            <a:pPr algn="l" marL="203200" indent="-2032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Keyword search scores documents by their shared words.</a:t>
            </a:r>
            <a:endParaRPr lang="en-US" sz="1600" dirty="0"/>
          </a:p>
          <a:p>
            <a:pPr algn="l" marL="203200" indent="-2032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ideas make it work: an index (speed) + a scoring function (quality).</a:t>
            </a:r>
            <a:endParaRPr lang="en-US" sz="1600" dirty="0"/>
          </a:p>
        </p:txBody>
      </p:sp>
      <p:pic>
        <p:nvPicPr>
          <p:cNvPr id="5" name="Image 0" descr="/sessions/inspiring-eloquent-brown/mnt/outputs/slides_build/assets/diagram_pipelin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5074920"/>
            <a:ext cx="877824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INTUITION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simple: count the shared words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Query:  </a:t>
            </a:r>
            <a:pPr indent="0" marL="0">
              <a:buNone/>
            </a:pPr>
            <a:r>
              <a:rPr lang="en-US" sz="17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color is the grass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40080" y="2331720"/>
            <a:ext cx="8595360" cy="658368"/>
          </a:xfrm>
          <a:prstGeom prst="roundRect">
            <a:avLst>
              <a:gd name="adj" fmla="val 13889"/>
            </a:avLst>
          </a:prstGeom>
          <a:solidFill>
            <a:srgbClr val="E7EEFF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331720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D0  </a:t>
            </a:r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grass is green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0195560" y="2432304"/>
            <a:ext cx="457200" cy="4572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8" name="Text 6"/>
          <p:cNvSpPr/>
          <p:nvPr/>
        </p:nvSpPr>
        <p:spPr>
          <a:xfrm>
            <a:off x="10195560" y="24323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40080" y="3108960"/>
            <a:ext cx="8595360" cy="658368"/>
          </a:xfrm>
          <a:prstGeom prst="roundRect">
            <a:avLst>
              <a:gd name="adj" fmla="val 13889"/>
            </a:avLst>
          </a:prstGeom>
          <a:solidFill>
            <a:srgbClr val="F1F5FF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108960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D1  </a:t>
            </a:r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sky is blue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0195560" y="3209544"/>
            <a:ext cx="457200" cy="457200"/>
          </a:xfrm>
          <a:prstGeom prst="ellipse">
            <a:avLst/>
          </a:prstGeom>
          <a:solidFill>
            <a:srgbClr val="334155"/>
          </a:solidFill>
          <a:ln/>
        </p:spPr>
      </p:sp>
      <p:sp>
        <p:nvSpPr>
          <p:cNvPr id="12" name="Text 10"/>
          <p:cNvSpPr/>
          <p:nvPr/>
        </p:nvSpPr>
        <p:spPr>
          <a:xfrm>
            <a:off x="10195560" y="32095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40080" y="3886200"/>
            <a:ext cx="8595360" cy="658368"/>
          </a:xfrm>
          <a:prstGeom prst="roundRect">
            <a:avLst>
              <a:gd name="adj" fmla="val 13889"/>
            </a:avLst>
          </a:prstGeom>
          <a:solidFill>
            <a:srgbClr val="F1F5FF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3886200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D2  </a:t>
            </a:r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capital of canada is ottawa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0195560" y="3986784"/>
            <a:ext cx="457200" cy="457200"/>
          </a:xfrm>
          <a:prstGeom prst="ellipse">
            <a:avLst/>
          </a:prstGeom>
          <a:solidFill>
            <a:srgbClr val="334155"/>
          </a:solidFill>
          <a:ln/>
        </p:spPr>
      </p:sp>
      <p:sp>
        <p:nvSpPr>
          <p:cNvPr id="16" name="Text 14"/>
          <p:cNvSpPr/>
          <p:nvPr/>
        </p:nvSpPr>
        <p:spPr>
          <a:xfrm>
            <a:off x="10195560" y="39867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640080" y="4663440"/>
            <a:ext cx="8595360" cy="658368"/>
          </a:xfrm>
          <a:prstGeom prst="roundRect">
            <a:avLst>
              <a:gd name="adj" fmla="val 13889"/>
            </a:avLst>
          </a:prstGeom>
          <a:solidFill>
            <a:srgbClr val="F1F5FF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4663440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D3  </a:t>
            </a:r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whale is a mammal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10195560" y="4764024"/>
            <a:ext cx="457200" cy="457200"/>
          </a:xfrm>
          <a:prstGeom prst="ellipse">
            <a:avLst/>
          </a:prstGeom>
          <a:solidFill>
            <a:srgbClr val="334155"/>
          </a:solidFill>
          <a:ln/>
        </p:spPr>
      </p:sp>
      <p:sp>
        <p:nvSpPr>
          <p:cNvPr id="20" name="Text 18"/>
          <p:cNvSpPr/>
          <p:nvPr/>
        </p:nvSpPr>
        <p:spPr>
          <a:xfrm>
            <a:off x="10195560" y="47640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40080" y="5852160"/>
            <a:ext cx="10332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D0 wins — it repeats the query's words. But common words like “the” and “is” dominate the count. We need to weight them.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Tokenization: turn text into comparable tokens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371600" y="2286000"/>
            <a:ext cx="1097280" cy="109728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1371600" y="228600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85800" y="36118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Lowercase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39776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“Grass” = “grass”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514600" y="2834640"/>
            <a:ext cx="1463040" cy="0"/>
          </a:xfrm>
          <a:prstGeom prst="line">
            <a:avLst/>
          </a:prstGeom>
          <a:noFill/>
          <a:ln w="31750">
            <a:solidFill>
              <a:srgbClr val="334155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4023360" y="2286000"/>
            <a:ext cx="1097280" cy="109728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0" name="Text 8"/>
          <p:cNvSpPr/>
          <p:nvPr/>
        </p:nvSpPr>
        <p:spPr>
          <a:xfrm>
            <a:off x="4023360" y="228600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3337560" y="36118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Split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337560" y="39776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non-letters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166360" y="2834640"/>
            <a:ext cx="1463040" cy="0"/>
          </a:xfrm>
          <a:prstGeom prst="line">
            <a:avLst/>
          </a:prstGeom>
          <a:noFill/>
          <a:ln w="31750">
            <a:solidFill>
              <a:srgbClr val="334155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6675120" y="2286000"/>
            <a:ext cx="1097280" cy="109728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5" name="Text 13"/>
          <p:cNvSpPr/>
          <p:nvPr/>
        </p:nvSpPr>
        <p:spPr>
          <a:xfrm>
            <a:off x="6675120" y="228600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5989320" y="36118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Stop-words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989320" y="39776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drop the, is, of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818120" y="2834640"/>
            <a:ext cx="1463040" cy="0"/>
          </a:xfrm>
          <a:prstGeom prst="line">
            <a:avLst/>
          </a:prstGeom>
          <a:noFill/>
          <a:ln w="31750">
            <a:solidFill>
              <a:srgbClr val="334155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9326880" y="2286000"/>
            <a:ext cx="1097280" cy="109728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0" name="Text 18"/>
          <p:cNvSpPr/>
          <p:nvPr/>
        </p:nvSpPr>
        <p:spPr>
          <a:xfrm>
            <a:off x="9326880" y="228600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4000" dirty="0"/>
          </a:p>
        </p:txBody>
      </p:sp>
      <p:sp>
        <p:nvSpPr>
          <p:cNvPr id="21" name="Text 19"/>
          <p:cNvSpPr/>
          <p:nvPr/>
        </p:nvSpPr>
        <p:spPr>
          <a:xfrm>
            <a:off x="8641080" y="36118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Stem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8641080" y="39776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running → run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40080" y="512064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Tokenize the query the SAME way as the documents — or matches silently vanish.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58521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inverted index: how search is instant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2103120"/>
            <a:ext cx="51206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03200" indent="-2032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 every term → the documents that contain it.</a:t>
            </a:r>
            <a:endParaRPr lang="en-US" sz="1600" dirty="0"/>
          </a:p>
          <a:p>
            <a:pPr algn="l" marL="203200" indent="-2032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once, ahead of time (at indexing).</a:t>
            </a:r>
            <a:endParaRPr lang="en-US" sz="1600" dirty="0"/>
          </a:p>
          <a:p>
            <a:pPr algn="l" marL="203200" indent="-2032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query becomes a single lookup, not a full scan.</a:t>
            </a:r>
            <a:endParaRPr lang="en-US" sz="1600" dirty="0"/>
          </a:p>
          <a:p>
            <a:pPr algn="l" marL="203200" indent="-2032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why results come back in milliseconds.</a:t>
            </a:r>
            <a:endParaRPr lang="en-US" sz="1600" dirty="0"/>
          </a:p>
        </p:txBody>
      </p:sp>
      <p:pic>
        <p:nvPicPr>
          <p:cNvPr id="5" name="Image 0" descr="/sessions/inspiring-eloquent-brown/mnt/outputs/slides_build/assets/diagram_index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737360"/>
            <a:ext cx="5486400" cy="37490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TF-IDF: weight words by how informative they are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5029200" cy="2103120"/>
          </a:xfrm>
          <a:prstGeom prst="roundRect">
            <a:avLst>
              <a:gd name="adj" fmla="val 5217"/>
            </a:avLst>
          </a:prstGeom>
          <a:solidFill>
            <a:srgbClr val="F1F5FF"/>
          </a:solidFill>
          <a:ln/>
        </p:spPr>
      </p:sp>
      <p:sp>
        <p:nvSpPr>
          <p:cNvPr id="5" name="Shape 3"/>
          <p:cNvSpPr/>
          <p:nvPr/>
        </p:nvSpPr>
        <p:spPr>
          <a:xfrm>
            <a:off x="960120" y="2423160"/>
            <a:ext cx="914400" cy="9144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24231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TF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057400" y="246888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 Frequency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05840" y="342900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Frequent in a document → probably matters to it.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92240" y="2103120"/>
            <a:ext cx="5029200" cy="2103120"/>
          </a:xfrm>
          <a:prstGeom prst="roundRect">
            <a:avLst>
              <a:gd name="adj" fmla="val 5217"/>
            </a:avLst>
          </a:prstGeom>
          <a:solidFill>
            <a:srgbClr val="F1F5FF"/>
          </a:solidFill>
          <a:ln/>
        </p:spPr>
      </p:sp>
      <p:sp>
        <p:nvSpPr>
          <p:cNvPr id="10" name="Shape 8"/>
          <p:cNvSpPr/>
          <p:nvPr/>
        </p:nvSpPr>
        <p:spPr>
          <a:xfrm>
            <a:off x="6812280" y="2423160"/>
            <a:ext cx="914400" cy="91440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1" name="Text 9"/>
          <p:cNvSpPr/>
          <p:nvPr/>
        </p:nvSpPr>
        <p:spPr>
          <a:xfrm>
            <a:off x="6812280" y="24231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IDF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909560" y="246888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Inverse Doc Frequency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858000" y="342900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Rare across the corpus → more distinctive &amp; useful.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40080" y="45720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TF-IDF = TF × IDF  —  frequent here AND rare overall  =  a high score.</a:t>
            </a:r>
            <a:endParaRPr lang="en-US" sz="1700" dirty="0"/>
          </a:p>
        </p:txBody>
      </p:sp>
      <p:pic>
        <p:nvPicPr>
          <p:cNvPr id="15" name="Image 0" descr="/sessions/inspiring-eloquent-brown/mnt/outputs/slides_build/assets/formula_id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0" y="4434840"/>
            <a:ext cx="338328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WORKED EXAMPLE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“is” scores nothing and “grass” wins</a:t>
            </a:r>
            <a:endParaRPr lang="en-US" sz="3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148840"/>
          <a:ext cx="658368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286000"/>
                <a:gridCol w="2286000"/>
              </a:tblGrid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term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df (docs with it)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IDF = ln(N / df)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is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 of 5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0.00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 of 5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0.51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grass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 of 5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1.61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680960" y="2148840"/>
            <a:ext cx="3840480" cy="2194560"/>
          </a:xfrm>
          <a:prstGeom prst="roundRect">
            <a:avLst>
              <a:gd name="adj" fmla="val 5000"/>
            </a:avLst>
          </a:prstGeom>
          <a:solidFill>
            <a:srgbClr val="E7EEFF"/>
          </a:solidFill>
          <a:ln/>
        </p:spPr>
      </p:sp>
      <p:sp>
        <p:nvSpPr>
          <p:cNvPr id="6" name="Text 3"/>
          <p:cNvSpPr/>
          <p:nvPr/>
        </p:nvSpPr>
        <p:spPr>
          <a:xfrm>
            <a:off x="7863840" y="2331720"/>
            <a:ext cx="34747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score(D0) ≈ 2.12
</a:t>
            </a:r>
            <a:pPr algn="l"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driven almost entirely by “grass”.</a:t>
            </a:r>
            <a:endParaRPr lang="en-US" sz="24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“is” is in every doc → IDF 0 → adds nothing.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640080" y="51206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 = 5 documents.  IDF = ln(N / df): common terms → ~0, rare terms → large.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109728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BM25: the workhorse ranking function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22960" y="2286000"/>
            <a:ext cx="10515600" cy="173736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/>
        </p:spPr>
      </p:sp>
      <p:pic>
        <p:nvPicPr>
          <p:cNvPr id="5" name="Image 0" descr="/sessions/inspiring-eloquent-brown/mnt/outputs/slides_build/assets/formula_bm25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0" y="2514600"/>
            <a:ext cx="9784080" cy="12801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22960" y="4389120"/>
            <a:ext cx="3108960" cy="457200"/>
          </a:xfrm>
          <a:prstGeom prst="roundRect">
            <a:avLst>
              <a:gd name="adj" fmla="val 50000"/>
            </a:avLst>
          </a:prstGeom>
          <a:solidFill>
            <a:srgbClr val="EEF3FF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22960" y="43891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k1  —  term saturation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206240" y="4389120"/>
            <a:ext cx="3566160" cy="457200"/>
          </a:xfrm>
          <a:prstGeom prst="roundRect">
            <a:avLst>
              <a:gd name="adj" fmla="val 50000"/>
            </a:avLst>
          </a:prstGeom>
          <a:solidFill>
            <a:srgbClr val="EEF3FF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206240" y="438912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  —  length normalization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22960" y="5212080"/>
            <a:ext cx="10424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FDB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Diminishing returns for repeated terms, and fairness for long documents. The default first-stage ranker for decades — fast, robust, no training.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PITFALLS &amp; GOTCHAS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keyword search goes wrong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148840"/>
            <a:ext cx="548640" cy="54864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148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371600" y="2103120"/>
            <a:ext cx="9875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Mismatched tokenization  </a:t>
            </a:r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 Query and docs must be normalized the same way, or matches disappear.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3081528"/>
            <a:ext cx="548640" cy="54864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30815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371600" y="3035808"/>
            <a:ext cx="9875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Over-aggressive stop-words  </a:t>
            </a:r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 Dropping “not” or “no” can flip meaning.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40080" y="4014216"/>
            <a:ext cx="548640" cy="54864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401421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371600" y="3968496"/>
            <a:ext cx="9875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Raw counts, no length norm  </a:t>
            </a:r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 Long documents dominate. Use BM25, not plain TF.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40080" y="4946904"/>
            <a:ext cx="548640" cy="54864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494690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371600" y="4901184"/>
            <a:ext cx="9875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Expecting synonyms  </a:t>
            </a:r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 Keyword search can't match meaning — that needs embeddings (Ch 3–6).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TERMS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vocabulary of keyword search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194560"/>
            <a:ext cx="1728216" cy="457200"/>
          </a:xfrm>
          <a:prstGeom prst="roundRect">
            <a:avLst>
              <a:gd name="adj" fmla="val 50000"/>
            </a:avLst>
          </a:prstGeom>
          <a:solidFill>
            <a:srgbClr val="EEF3FF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2194560"/>
            <a:ext cx="17282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lexical search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596896" y="2194560"/>
            <a:ext cx="1517904" cy="457200"/>
          </a:xfrm>
          <a:prstGeom prst="roundRect">
            <a:avLst>
              <a:gd name="adj" fmla="val 50000"/>
            </a:avLst>
          </a:prstGeom>
          <a:solidFill>
            <a:srgbClr val="EEF3FF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96896" y="2194560"/>
            <a:ext cx="15179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tokenization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43400" y="2194560"/>
            <a:ext cx="1307592" cy="457200"/>
          </a:xfrm>
          <a:prstGeom prst="roundRect">
            <a:avLst>
              <a:gd name="adj" fmla="val 50000"/>
            </a:avLst>
          </a:prstGeom>
          <a:solidFill>
            <a:srgbClr val="EEF3FF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43400" y="2194560"/>
            <a:ext cx="1307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 words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879592" y="2194560"/>
            <a:ext cx="1097280" cy="457200"/>
          </a:xfrm>
          <a:prstGeom prst="roundRect">
            <a:avLst>
              <a:gd name="adj" fmla="val 50000"/>
            </a:avLst>
          </a:prstGeom>
          <a:solidFill>
            <a:srgbClr val="EEF3FF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879592" y="219456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stemming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205472" y="2194560"/>
            <a:ext cx="1728216" cy="457200"/>
          </a:xfrm>
          <a:prstGeom prst="roundRect">
            <a:avLst>
              <a:gd name="adj" fmla="val 50000"/>
            </a:avLst>
          </a:prstGeom>
          <a:solidFill>
            <a:srgbClr val="EEF3FF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205472" y="2194560"/>
            <a:ext cx="17282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inverted index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9162288" y="2194560"/>
            <a:ext cx="1097280" cy="457200"/>
          </a:xfrm>
          <a:prstGeom prst="roundRect">
            <a:avLst>
              <a:gd name="adj" fmla="val 50000"/>
            </a:avLst>
          </a:prstGeom>
          <a:solidFill>
            <a:srgbClr val="EEF3FF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62288" y="219456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postings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2852928"/>
            <a:ext cx="2253996" cy="457200"/>
          </a:xfrm>
          <a:prstGeom prst="roundRect">
            <a:avLst>
              <a:gd name="adj" fmla="val 50000"/>
            </a:avLst>
          </a:prstGeom>
          <a:solidFill>
            <a:srgbClr val="EEF3FF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2852928"/>
            <a:ext cx="22539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 frequency (TF)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122676" y="2852928"/>
            <a:ext cx="2674620" cy="457200"/>
          </a:xfrm>
          <a:prstGeom prst="roundRect">
            <a:avLst>
              <a:gd name="adj" fmla="val 50000"/>
            </a:avLst>
          </a:prstGeom>
          <a:solidFill>
            <a:srgbClr val="EEF3FF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122676" y="2852928"/>
            <a:ext cx="26746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frequency (df)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025896" y="2852928"/>
            <a:ext cx="571500" cy="457200"/>
          </a:xfrm>
          <a:prstGeom prst="roundRect">
            <a:avLst>
              <a:gd name="adj" fmla="val 50000"/>
            </a:avLst>
          </a:prstGeom>
          <a:solidFill>
            <a:srgbClr val="EEF3FF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025896" y="2852928"/>
            <a:ext cx="571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IDF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825996" y="2852928"/>
            <a:ext cx="886968" cy="457200"/>
          </a:xfrm>
          <a:prstGeom prst="roundRect">
            <a:avLst>
              <a:gd name="adj" fmla="val 50000"/>
            </a:avLst>
          </a:prstGeom>
          <a:solidFill>
            <a:srgbClr val="EEF3FF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25996" y="2852928"/>
            <a:ext cx="886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TF-IDF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7941564" y="2852928"/>
            <a:ext cx="676656" cy="457200"/>
          </a:xfrm>
          <a:prstGeom prst="roundRect">
            <a:avLst>
              <a:gd name="adj" fmla="val 50000"/>
            </a:avLst>
          </a:prstGeom>
          <a:solidFill>
            <a:srgbClr val="EEF3FF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941564" y="2852928"/>
            <a:ext cx="6766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BM25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8846820" y="2852928"/>
            <a:ext cx="1833372" cy="457200"/>
          </a:xfrm>
          <a:prstGeom prst="roundRect">
            <a:avLst>
              <a:gd name="adj" fmla="val 50000"/>
            </a:avLst>
          </a:prstGeom>
          <a:solidFill>
            <a:srgbClr val="EEF3FF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846820" y="2852928"/>
            <a:ext cx="18333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 saturation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40080" y="3511296"/>
            <a:ext cx="2359152" cy="457200"/>
          </a:xfrm>
          <a:prstGeom prst="roundRect">
            <a:avLst>
              <a:gd name="adj" fmla="val 50000"/>
            </a:avLst>
          </a:prstGeom>
          <a:solidFill>
            <a:srgbClr val="EEF3FF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" y="3511296"/>
            <a:ext cx="2359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length normalization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40080" y="53949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definitions in the course GLOSSARY.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YOUR UNDERSTANDING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109728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yourself, then move on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58368" y="2194560"/>
            <a:ext cx="1051560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03200" indent="-2032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BFDB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is it called an inverted index, and what problem does it solve?</a:t>
            </a:r>
            <a:endParaRPr lang="en-US" sz="1600" dirty="0"/>
          </a:p>
          <a:p>
            <a:pPr algn="l" marL="203200" indent="-2032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BFDB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the worked example, why does “is” contribute nothing?</a:t>
            </a:r>
            <a:endParaRPr lang="en-US" sz="1600" dirty="0"/>
          </a:p>
          <a:p>
            <a:pPr algn="l" marL="203200" indent="-2032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BFDB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two problems does BM25 fix, and which parameter controls each?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5029200"/>
            <a:ext cx="5852160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502920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 →  </a:t>
            </a:r>
            <a:pPr indent="0" marL="0">
              <a:buNone/>
            </a:pPr>
            <a:r>
              <a:rPr lang="en-US" sz="18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Chapter 3: From Text to Vectors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766560" y="525780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github.com/mdhabibi/llm-search-handbook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2026-08-18T20:33:20Z</dcterms:created>
  <dcterms:modified xsi:type="dcterms:W3CDTF">2026-08-18T20:33:20Z</dcterms:modified>
</cp:coreProperties>
</file>